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0" d="100"/>
          <a:sy n="80" d="100"/>
        </p:scale>
        <p:origin x="1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89E6D29-467F-4747-BF58-4CC85172452C}"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2937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spTree>
    <p:extLst>
      <p:ext uri="{BB962C8B-B14F-4D97-AF65-F5344CB8AC3E}">
        <p14:creationId xmlns:p14="http://schemas.microsoft.com/office/powerpoint/2010/main" val="1707167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1413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98A893F-11FE-4BBB-A230-57FBE4316365}"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9E6D29-467F-4747-BF58-4CC85172452C}" type="slidenum">
              <a:rPr lang="en-US" smtClean="0"/>
              <a:t>‹#›</a:t>
            </a:fld>
            <a:endParaRPr lang="en-US"/>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4764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98A893F-11FE-4BBB-A230-57FBE4316365}"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9E6D29-467F-4747-BF58-4CC85172452C}"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6998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98A893F-11FE-4BBB-A230-57FBE4316365}"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9E6D29-467F-4747-BF58-4CC85172452C}"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1470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8A893F-11FE-4BBB-A230-57FBE4316365}"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9E6D29-467F-4747-BF58-4CC85172452C}" type="slidenum">
              <a:rPr lang="en-US" smtClean="0"/>
              <a:t>‹#›</a:t>
            </a:fld>
            <a:endParaRPr lang="en-US"/>
          </a:p>
        </p:txBody>
      </p:sp>
    </p:spTree>
    <p:extLst>
      <p:ext uri="{BB962C8B-B14F-4D97-AF65-F5344CB8AC3E}">
        <p14:creationId xmlns:p14="http://schemas.microsoft.com/office/powerpoint/2010/main" val="2787493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8A893F-11FE-4BBB-A230-57FBE4316365}"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9E6D29-467F-4747-BF58-4CC85172452C}"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3362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8A893F-11FE-4BBB-A230-57FBE4316365}"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9E6D29-467F-4747-BF58-4CC85172452C}" type="slidenum">
              <a:rPr lang="en-US" smtClean="0"/>
              <a:t>‹#›</a:t>
            </a:fld>
            <a:endParaRPr lang="en-US"/>
          </a:p>
        </p:txBody>
      </p:sp>
    </p:spTree>
    <p:extLst>
      <p:ext uri="{BB962C8B-B14F-4D97-AF65-F5344CB8AC3E}">
        <p14:creationId xmlns:p14="http://schemas.microsoft.com/office/powerpoint/2010/main" val="2569327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8A893F-11FE-4BBB-A230-57FBE4316365}"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9E6D29-467F-4747-BF58-4CC85172452C}" type="slidenum">
              <a:rPr lang="en-US" smtClean="0"/>
              <a:t>‹#›</a:t>
            </a:fld>
            <a:endParaRPr lang="en-US"/>
          </a:p>
        </p:txBody>
      </p:sp>
    </p:spTree>
    <p:extLst>
      <p:ext uri="{BB962C8B-B14F-4D97-AF65-F5344CB8AC3E}">
        <p14:creationId xmlns:p14="http://schemas.microsoft.com/office/powerpoint/2010/main" val="1597448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068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8728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spTree>
    <p:extLst>
      <p:ext uri="{BB962C8B-B14F-4D97-AF65-F5344CB8AC3E}">
        <p14:creationId xmlns:p14="http://schemas.microsoft.com/office/powerpoint/2010/main" val="1460825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1549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001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3981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98A893F-11FE-4BBB-A230-57FBE43163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9E6D29-467F-4747-BF58-4CC85172452C}"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3621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98A893F-11FE-4BBB-A230-57FBE4316365}" type="datetimeFigureOut">
              <a:rPr lang="en-US" smtClean="0"/>
              <a:t>2/2/2026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89E6D29-467F-4747-BF58-4CC85172452C}" type="slidenum">
              <a:rPr lang="en-US" smtClean="0"/>
              <a:t>‹#›</a:t>
            </a:fld>
            <a:endParaRPr lang="en-US"/>
          </a:p>
        </p:txBody>
      </p:sp>
    </p:spTree>
    <p:extLst>
      <p:ext uri="{BB962C8B-B14F-4D97-AF65-F5344CB8AC3E}">
        <p14:creationId xmlns:p14="http://schemas.microsoft.com/office/powerpoint/2010/main" val="4031030642"/>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 id="2147483820"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fontScale="90000"/>
          </a:bodyPr>
          <a:lstStyle/>
          <a:p>
            <a:r>
              <a:rPr lang="en-US" dirty="0" smtClean="0"/>
              <a:t>           TITLE : AVIATION RISK ANALYSIS</a:t>
            </a:r>
            <a:endParaRPr lang="en-US" dirty="0"/>
          </a:p>
        </p:txBody>
      </p:sp>
      <p:sp>
        <p:nvSpPr>
          <p:cNvPr id="11" name="Content Placeholder 10"/>
          <p:cNvSpPr>
            <a:spLocks noGrp="1"/>
          </p:cNvSpPr>
          <p:nvPr>
            <p:ph idx="1"/>
          </p:nvPr>
        </p:nvSpPr>
        <p:spPr/>
        <p:txBody>
          <a:bodyPr/>
          <a:lstStyle/>
          <a:p>
            <a:pPr marL="0" indent="0">
              <a:buNone/>
            </a:pPr>
            <a:r>
              <a:rPr lang="en-US" dirty="0" smtClean="0"/>
              <a:t>    SUBTITLE : PHASE 1  DATA SCIENCE  PROJECT| FLIGHT DATA</a:t>
            </a:r>
          </a:p>
          <a:p>
            <a:pPr marL="0" indent="0">
              <a:buNone/>
            </a:pPr>
            <a:endParaRPr lang="en-US" dirty="0" smtClean="0"/>
          </a:p>
          <a:p>
            <a:pPr marL="0" indent="0">
              <a:buNone/>
            </a:pPr>
            <a:r>
              <a:rPr lang="en-US" dirty="0"/>
              <a:t>    DATA SOURCE : </a:t>
            </a:r>
            <a:r>
              <a:rPr lang="en-US" dirty="0" smtClean="0"/>
              <a:t>NATIONAL TRANSPORTATION SAFETY BOARD </a:t>
            </a:r>
            <a:r>
              <a:rPr lang="en-US" dirty="0"/>
              <a:t>(NTSB) </a:t>
            </a:r>
            <a:r>
              <a:rPr lang="en-US" dirty="0" smtClean="0"/>
              <a:t>AVIATION  ACCIDENT DATABASE, 1962–2023</a:t>
            </a:r>
          </a:p>
          <a:p>
            <a:pPr marL="0" indent="0">
              <a:buNone/>
            </a:pPr>
            <a:endParaRPr lang="en-US" dirty="0"/>
          </a:p>
          <a:p>
            <a:pPr marL="0" indent="0">
              <a:buNone/>
            </a:pPr>
            <a:r>
              <a:rPr lang="en-US" dirty="0" smtClean="0"/>
              <a:t>    RICHARD DUNCAN OKETCH</a:t>
            </a:r>
          </a:p>
        </p:txBody>
      </p:sp>
    </p:spTree>
    <p:extLst>
      <p:ext uri="{BB962C8B-B14F-4D97-AF65-F5344CB8AC3E}">
        <p14:creationId xmlns:p14="http://schemas.microsoft.com/office/powerpoint/2010/main" val="17391797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BUSINESS UNDERSTANDING ANALYSIS</a:t>
            </a:r>
            <a:endParaRPr lang="en-US" dirty="0"/>
          </a:p>
        </p:txBody>
      </p:sp>
      <p:sp>
        <p:nvSpPr>
          <p:cNvPr id="3" name="Content Placeholder 2"/>
          <p:cNvSpPr>
            <a:spLocks noGrp="1"/>
          </p:cNvSpPr>
          <p:nvPr>
            <p:ph idx="1"/>
          </p:nvPr>
        </p:nvSpPr>
        <p:spPr>
          <a:xfrm>
            <a:off x="1295402" y="2348369"/>
            <a:ext cx="8596668" cy="3880773"/>
          </a:xfrm>
        </p:spPr>
        <p:txBody>
          <a:bodyPr>
            <a:normAutofit fontScale="25000" lnSpcReduction="20000"/>
          </a:bodyPr>
          <a:lstStyle/>
          <a:p>
            <a:pPr marL="0" indent="0">
              <a:buNone/>
            </a:pPr>
            <a:endParaRPr lang="en-US" sz="7200" b="1" u="sng" dirty="0" smtClean="0">
              <a:latin typeface="+mj-lt"/>
            </a:endParaRPr>
          </a:p>
          <a:p>
            <a:r>
              <a:rPr lang="en-US" sz="7200" b="1" dirty="0">
                <a:latin typeface="+mj-lt"/>
              </a:rPr>
              <a:t>The company must reduce the safety and financial risk of venturing into the aviation industry.</a:t>
            </a:r>
          </a:p>
          <a:p>
            <a:r>
              <a:rPr lang="en-US" sz="7200" b="1" dirty="0">
                <a:latin typeface="+mj-lt"/>
              </a:rPr>
              <a:t>Accidents in the air have a direct impact on costs as they result in deaths, legal liability, loss of the aircraft, and insurance costs.</a:t>
            </a:r>
          </a:p>
          <a:p>
            <a:r>
              <a:rPr lang="en-US" sz="7200" b="1" dirty="0">
                <a:latin typeface="+mj-lt"/>
              </a:rPr>
              <a:t>The various types of aircraft demonstrate a varying degree of aircraft accidents.</a:t>
            </a:r>
          </a:p>
          <a:p>
            <a:r>
              <a:rPr lang="en-US" sz="7200" b="1" dirty="0">
                <a:latin typeface="+mj-lt"/>
              </a:rPr>
              <a:t>The patterns of increased and reduced operational risk can be realized through historical data on accidents.</a:t>
            </a:r>
          </a:p>
          <a:p>
            <a:r>
              <a:rPr lang="en-US" sz="7200" b="1" dirty="0">
                <a:latin typeface="+mj-lt"/>
              </a:rPr>
              <a:t>The examination of deaths, the extent of damage, and the frequency of accidents contributes to the safer choice of the aircraft.</a:t>
            </a:r>
          </a:p>
          <a:p>
            <a:r>
              <a:rPr lang="en-US" sz="7200" b="1" dirty="0">
                <a:latin typeface="+mj-lt"/>
              </a:rPr>
              <a:t>Informed investment decisions and reduction of risks in the long-term can be made through data-driven insights.</a:t>
            </a:r>
          </a:p>
          <a:p>
            <a:endParaRPr lang="en-US" sz="7200" dirty="0">
              <a:latin typeface="+mj-lt"/>
            </a:endParaRPr>
          </a:p>
          <a:p>
            <a:pPr marL="0" indent="0">
              <a:buNone/>
            </a:pPr>
            <a:r>
              <a:rPr lang="en-US" dirty="0" smtClean="0"/>
              <a:t>     </a:t>
            </a:r>
            <a:endParaRPr lang="en-US" dirty="0"/>
          </a:p>
        </p:txBody>
      </p:sp>
    </p:spTree>
    <p:extLst>
      <p:ext uri="{BB962C8B-B14F-4D97-AF65-F5344CB8AC3E}">
        <p14:creationId xmlns:p14="http://schemas.microsoft.com/office/powerpoint/2010/main" val="42312469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DATA PREPARATION ANALYSIS</a:t>
            </a:r>
            <a:endParaRPr lang="en-US" dirty="0"/>
          </a:p>
        </p:txBody>
      </p:sp>
      <p:sp>
        <p:nvSpPr>
          <p:cNvPr id="10" name="Content Placeholder 9"/>
          <p:cNvSpPr>
            <a:spLocks noGrp="1"/>
          </p:cNvSpPr>
          <p:nvPr>
            <p:ph idx="1"/>
          </p:nvPr>
        </p:nvSpPr>
        <p:spPr/>
        <p:txBody>
          <a:bodyPr>
            <a:normAutofit fontScale="92500" lnSpcReduction="20000"/>
          </a:bodyPr>
          <a:lstStyle/>
          <a:p>
            <a:pPr lvl="4">
              <a:buFont typeface="Wingdings" panose="05000000000000000000" pitchFamily="2" charset="2"/>
              <a:buChar char="Ø"/>
            </a:pPr>
            <a:r>
              <a:rPr lang="en-US" sz="2400" b="1" dirty="0" smtClean="0"/>
              <a:t>Data cleaning :</a:t>
            </a:r>
          </a:p>
          <a:p>
            <a:pPr lvl="4">
              <a:buFont typeface="Arial" panose="020B0604020202020204" pitchFamily="34" charset="0"/>
              <a:buChar char="•"/>
            </a:pPr>
            <a:r>
              <a:rPr lang="en-US" sz="2400" b="1" dirty="0" smtClean="0"/>
              <a:t>Filter </a:t>
            </a:r>
            <a:r>
              <a:rPr lang="en-US" sz="2400" b="1" dirty="0"/>
              <a:t>data to relevant </a:t>
            </a:r>
            <a:r>
              <a:rPr lang="en-US" sz="2400" b="1" dirty="0" smtClean="0"/>
              <a:t>columns</a:t>
            </a:r>
            <a:endParaRPr lang="en-US" sz="2400" b="1" dirty="0"/>
          </a:p>
          <a:p>
            <a:pPr lvl="4">
              <a:buFont typeface="Arial" panose="020B0604020202020204" pitchFamily="34" charset="0"/>
              <a:buChar char="•"/>
            </a:pPr>
            <a:r>
              <a:rPr lang="en-US" sz="2400" b="1" dirty="0" smtClean="0"/>
              <a:t>Renaming columns</a:t>
            </a:r>
            <a:endParaRPr lang="en-US" sz="2400" b="1" dirty="0"/>
          </a:p>
          <a:p>
            <a:pPr lvl="4">
              <a:buFont typeface="Arial" panose="020B0604020202020204" pitchFamily="34" charset="0"/>
              <a:buChar char="•"/>
            </a:pPr>
            <a:r>
              <a:rPr lang="en-US" sz="2400" b="1" dirty="0" smtClean="0"/>
              <a:t>Check </a:t>
            </a:r>
            <a:r>
              <a:rPr lang="en-US" sz="2400" b="1" dirty="0"/>
              <a:t>for Duplicate </a:t>
            </a:r>
            <a:r>
              <a:rPr lang="en-US" sz="2400" b="1" dirty="0" smtClean="0"/>
              <a:t>Records</a:t>
            </a:r>
            <a:endParaRPr lang="en-US" sz="2400" b="1" dirty="0"/>
          </a:p>
          <a:p>
            <a:pPr lvl="4">
              <a:buFont typeface="Arial" panose="020B0604020202020204" pitchFamily="34" charset="0"/>
              <a:buChar char="•"/>
            </a:pPr>
            <a:r>
              <a:rPr lang="en-US" sz="2400" b="1" dirty="0" smtClean="0"/>
              <a:t>Converting </a:t>
            </a:r>
            <a:r>
              <a:rPr lang="en-US" sz="2400" b="1" dirty="0"/>
              <a:t>date </a:t>
            </a:r>
            <a:r>
              <a:rPr lang="en-US" sz="2400" b="1" dirty="0" smtClean="0"/>
              <a:t>columns</a:t>
            </a:r>
            <a:endParaRPr lang="en-US" sz="2400" b="1" dirty="0"/>
          </a:p>
          <a:p>
            <a:pPr lvl="4">
              <a:buFont typeface="Arial" panose="020B0604020202020204" pitchFamily="34" charset="0"/>
              <a:buChar char="•"/>
            </a:pPr>
            <a:r>
              <a:rPr lang="en-US" sz="2400" b="1" dirty="0" smtClean="0"/>
              <a:t>Check </a:t>
            </a:r>
            <a:r>
              <a:rPr lang="en-US" sz="2400" b="1" dirty="0" err="1"/>
              <a:t>fo</a:t>
            </a:r>
            <a:r>
              <a:rPr lang="en-US" sz="2400" b="1" dirty="0"/>
              <a:t> missing </a:t>
            </a:r>
            <a:r>
              <a:rPr lang="en-US" sz="2400" b="1" dirty="0" smtClean="0"/>
              <a:t>values</a:t>
            </a:r>
            <a:endParaRPr lang="en-US" sz="2400" b="1" dirty="0"/>
          </a:p>
          <a:p>
            <a:pPr lvl="4">
              <a:buFont typeface="Arial" panose="020B0604020202020204" pitchFamily="34" charset="0"/>
              <a:buChar char="•"/>
            </a:pPr>
            <a:r>
              <a:rPr lang="en-US" sz="2400" b="1" dirty="0" smtClean="0"/>
              <a:t>Converting </a:t>
            </a:r>
            <a:r>
              <a:rPr lang="en-US" sz="2400" b="1" dirty="0"/>
              <a:t>fat(fatalities) to </a:t>
            </a:r>
            <a:r>
              <a:rPr lang="en-US" sz="2400" b="1" dirty="0" smtClean="0"/>
              <a:t>integer</a:t>
            </a:r>
          </a:p>
          <a:p>
            <a:pPr lvl="4">
              <a:buFont typeface="Arial" panose="020B0604020202020204" pitchFamily="34" charset="0"/>
              <a:buChar char="•"/>
            </a:pPr>
            <a:r>
              <a:rPr lang="en-US" sz="2400" b="1" dirty="0" smtClean="0"/>
              <a:t>Check </a:t>
            </a:r>
            <a:r>
              <a:rPr lang="en-US" sz="2400" b="1" dirty="0"/>
              <a:t>cleaned Data                                      </a:t>
            </a:r>
            <a:endParaRPr lang="en-US" sz="2400" b="1" dirty="0" smtClean="0"/>
          </a:p>
          <a:p>
            <a:pPr marL="2628900" lvl="5"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15640005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VISUALIZATION ANALYSIS </a:t>
            </a:r>
            <a:endParaRPr lang="en-US" dirty="0"/>
          </a:p>
        </p:txBody>
      </p:sp>
    </p:spTree>
    <p:extLst>
      <p:ext uri="{BB962C8B-B14F-4D97-AF65-F5344CB8AC3E}">
        <p14:creationId xmlns:p14="http://schemas.microsoft.com/office/powerpoint/2010/main" val="67087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marL="342900" indent="-342900">
              <a:buFont typeface="Wingdings" panose="05000000000000000000" pitchFamily="2" charset="2"/>
              <a:buChar char="Ø"/>
            </a:pPr>
            <a:r>
              <a:rPr lang="en-US" dirty="0" smtClean="0"/>
              <a:t>Pie chart of Aircraft type with Fatalities rate </a:t>
            </a:r>
            <a:endParaRPr lang="en-US" dirty="0"/>
          </a:p>
        </p:txBody>
      </p:sp>
      <p:sp>
        <p:nvSpPr>
          <p:cNvPr id="7" name="Content Placeholder 6"/>
          <p:cNvSpPr>
            <a:spLocks noGrp="1"/>
          </p:cNvSpPr>
          <p:nvPr>
            <p:ph sz="half" idx="1"/>
          </p:nvPr>
        </p:nvSpPr>
        <p:spPr/>
        <p:txBody>
          <a:bodyPr>
            <a:normAutofit fontScale="85000" lnSpcReduction="20000"/>
          </a:bodyPr>
          <a:lstStyle/>
          <a:p>
            <a:r>
              <a:rPr lang="en-US" b="1" dirty="0" smtClean="0"/>
              <a:t>This shows the pie chart of the relationship between the top 10 Aircraft type with the number of people who died (Fatality Rate)</a:t>
            </a:r>
          </a:p>
          <a:p>
            <a:r>
              <a:rPr lang="en-US" b="1" dirty="0" smtClean="0"/>
              <a:t> Aircraft with  </a:t>
            </a:r>
            <a:r>
              <a:rPr lang="en-US" b="1" dirty="0"/>
              <a:t>with highest fatality rate </a:t>
            </a:r>
            <a:r>
              <a:rPr lang="en-US" b="1" dirty="0" smtClean="0"/>
              <a:t>arranged from highest to lowest are ;</a:t>
            </a:r>
            <a:endParaRPr lang="en-US" b="1" dirty="0"/>
          </a:p>
          <a:p>
            <a:pPr marL="0" indent="0">
              <a:buNone/>
            </a:pPr>
            <a:r>
              <a:rPr lang="en-US" b="1" dirty="0" smtClean="0"/>
              <a:t>Boeing </a:t>
            </a:r>
            <a:r>
              <a:rPr lang="en-US" b="1" dirty="0"/>
              <a:t>737 MAX 8 (346), </a:t>
            </a:r>
            <a:r>
              <a:rPr lang="en-US" b="1" dirty="0" err="1"/>
              <a:t>Ilyushin</a:t>
            </a:r>
            <a:r>
              <a:rPr lang="en-US" b="1" dirty="0"/>
              <a:t> </a:t>
            </a:r>
            <a:r>
              <a:rPr lang="en-US" b="1" dirty="0" smtClean="0"/>
              <a:t>Il-         76TD </a:t>
            </a:r>
            <a:r>
              <a:rPr lang="en-US" b="1" dirty="0"/>
              <a:t>(258), Boeing 737-8KV (WL) (176), Boeing 737-89P (WL) (132), Boeing 737-201 Advanced (112), </a:t>
            </a:r>
            <a:r>
              <a:rPr lang="en-US" b="1" dirty="0" err="1"/>
              <a:t>Antonov</a:t>
            </a:r>
            <a:r>
              <a:rPr lang="en-US" b="1" dirty="0"/>
              <a:t> An-148-100B (71), ATR 72-212 (66),</a:t>
            </a:r>
          </a:p>
          <a:p>
            <a:endParaRPr lang="en-US" b="1"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1725" y="3090743"/>
            <a:ext cx="4718050" cy="2249726"/>
          </a:xfrm>
        </p:spPr>
      </p:pic>
    </p:spTree>
    <p:extLst>
      <p:ext uri="{BB962C8B-B14F-4D97-AF65-F5344CB8AC3E}">
        <p14:creationId xmlns:p14="http://schemas.microsoft.com/office/powerpoint/2010/main" val="7090307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buFont typeface="Wingdings" panose="05000000000000000000" pitchFamily="2" charset="2"/>
              <a:buChar char="Ø"/>
            </a:pPr>
            <a:r>
              <a:rPr lang="en-US" dirty="0" smtClean="0"/>
              <a:t>Heat map of (top 10) Aircraft type with Accident frequency</a:t>
            </a:r>
            <a:endParaRPr lang="en-US" dirty="0"/>
          </a:p>
        </p:txBody>
      </p:sp>
      <p:sp>
        <p:nvSpPr>
          <p:cNvPr id="3" name="Content Placeholder 2"/>
          <p:cNvSpPr>
            <a:spLocks noGrp="1"/>
          </p:cNvSpPr>
          <p:nvPr>
            <p:ph sz="half" idx="1"/>
          </p:nvPr>
        </p:nvSpPr>
        <p:spPr/>
        <p:txBody>
          <a:bodyPr>
            <a:normAutofit fontScale="70000" lnSpcReduction="20000"/>
          </a:bodyPr>
          <a:lstStyle/>
          <a:p>
            <a:r>
              <a:rPr lang="en-US" b="1" dirty="0" smtClean="0"/>
              <a:t>Indicates a Heat map that displays the relationship between the Aircraft type and the accident frequency</a:t>
            </a:r>
          </a:p>
          <a:p>
            <a:r>
              <a:rPr lang="en-US" b="1" dirty="0"/>
              <a:t>These are the </a:t>
            </a:r>
            <a:r>
              <a:rPr lang="en-US" b="1" dirty="0" smtClean="0"/>
              <a:t>top 10 </a:t>
            </a:r>
            <a:r>
              <a:rPr lang="en-US" b="1" dirty="0"/>
              <a:t>type of aircraft that has a higher accident occurrence of which the investors should not consider </a:t>
            </a:r>
            <a:r>
              <a:rPr lang="en-US" b="1" dirty="0" smtClean="0"/>
              <a:t>purchasing ;</a:t>
            </a:r>
            <a:endParaRPr lang="en-US" b="1" dirty="0"/>
          </a:p>
          <a:p>
            <a:r>
              <a:rPr lang="en-US" b="1" dirty="0"/>
              <a:t>Cessna 208B Grand Caravan (57), Beechcraft 200 Super King Air (29), </a:t>
            </a:r>
            <a:r>
              <a:rPr lang="en-US" b="1" dirty="0" err="1"/>
              <a:t>Antonov</a:t>
            </a:r>
            <a:r>
              <a:rPr lang="en-US" b="1" dirty="0"/>
              <a:t> An-2R (29), de Havilland Canada DHC-6 Twin Otter 300 (17), Cessna 208 Caravan I (15), de Havilland Canada DHC-8-402Q Dash 8 (14), </a:t>
            </a:r>
            <a:r>
              <a:rPr lang="en-US" b="1" dirty="0" err="1"/>
              <a:t>Antonov</a:t>
            </a:r>
            <a:r>
              <a:rPr lang="en-US" b="1" dirty="0"/>
              <a:t> An-2 (13), Learjet 35A (13), Boeing 737-8AS (WL) (12), Cessna 208B </a:t>
            </a:r>
            <a:r>
              <a:rPr lang="en-US" b="1" dirty="0" err="1"/>
              <a:t>Supervan</a:t>
            </a:r>
            <a:r>
              <a:rPr lang="en-US" b="1" dirty="0"/>
              <a:t> 900 (12),</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45742" y="2560638"/>
            <a:ext cx="3390016" cy="3309937"/>
          </a:xfrm>
        </p:spPr>
      </p:pic>
    </p:spTree>
    <p:extLst>
      <p:ext uri="{BB962C8B-B14F-4D97-AF65-F5344CB8AC3E}">
        <p14:creationId xmlns:p14="http://schemas.microsoft.com/office/powerpoint/2010/main" val="19534644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buFont typeface="Wingdings" panose="05000000000000000000" pitchFamily="2" charset="2"/>
              <a:buChar char="Ø"/>
            </a:pPr>
            <a:r>
              <a:rPr lang="en-US" dirty="0" smtClean="0"/>
              <a:t>Line graph of (bottom 10) Aircraft type with Accident frequency</a:t>
            </a:r>
            <a:endParaRPr lang="en-US" dirty="0"/>
          </a:p>
        </p:txBody>
      </p:sp>
      <p:sp>
        <p:nvSpPr>
          <p:cNvPr id="3" name="Content Placeholder 2"/>
          <p:cNvSpPr>
            <a:spLocks noGrp="1"/>
          </p:cNvSpPr>
          <p:nvPr>
            <p:ph sz="half" idx="1"/>
          </p:nvPr>
        </p:nvSpPr>
        <p:spPr/>
        <p:txBody>
          <a:bodyPr>
            <a:normAutofit fontScale="70000" lnSpcReduction="20000"/>
          </a:bodyPr>
          <a:lstStyle/>
          <a:p>
            <a:r>
              <a:rPr lang="en-US" b="1" dirty="0" smtClean="0"/>
              <a:t>This shows a Line graph of (bottom 10) Aircraft type with Accident frequency</a:t>
            </a:r>
          </a:p>
          <a:p>
            <a:r>
              <a:rPr lang="en-US" b="1" dirty="0"/>
              <a:t>These are the sample of type of aircraft that has a lower accident occurrence of which the investors should consider </a:t>
            </a:r>
            <a:r>
              <a:rPr lang="en-US" b="1" dirty="0" smtClean="0"/>
              <a:t>purchasing ;</a:t>
            </a:r>
            <a:endParaRPr lang="en-US" b="1" dirty="0"/>
          </a:p>
          <a:p>
            <a:r>
              <a:rPr lang="en-US" b="1" dirty="0" smtClean="0"/>
              <a:t>Grumman </a:t>
            </a:r>
            <a:r>
              <a:rPr lang="en-US" b="1" dirty="0"/>
              <a:t>G-1159 Gulfstream II (1), Boeing 777-3F2ER (1), Curtiss C-46F-1-CU Commando (1), Boeing 757-223 (1), Boeing 737-800 (1), </a:t>
            </a:r>
            <a:r>
              <a:rPr lang="en-US" b="1" dirty="0" err="1"/>
              <a:t>Dassault</a:t>
            </a:r>
            <a:r>
              <a:rPr lang="en-US" b="1" dirty="0"/>
              <a:t> Falcon 900EX </a:t>
            </a:r>
            <a:r>
              <a:rPr lang="en-US" b="1" dirty="0" err="1"/>
              <a:t>EASy</a:t>
            </a:r>
            <a:r>
              <a:rPr lang="en-US" b="1" dirty="0"/>
              <a:t> (1), McDonnell Douglas MD-11F (1), Boeing 737-275C Adv. (1), Beechcraft 100 King Air (1), Lockheed WC-130H Hercules (1),</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05344" y="2560638"/>
            <a:ext cx="3270812" cy="3309937"/>
          </a:xfrm>
        </p:spPr>
      </p:pic>
    </p:spTree>
    <p:extLst>
      <p:ext uri="{BB962C8B-B14F-4D97-AF65-F5344CB8AC3E}">
        <p14:creationId xmlns:p14="http://schemas.microsoft.com/office/powerpoint/2010/main" val="17613858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buFont typeface="Wingdings" panose="05000000000000000000" pitchFamily="2" charset="2"/>
              <a:buChar char="Ø"/>
            </a:pPr>
            <a:r>
              <a:rPr lang="en-US" dirty="0" smtClean="0"/>
              <a:t>Bar graph of Damage severity Distribution</a:t>
            </a:r>
            <a:endParaRPr lang="en-US" dirty="0"/>
          </a:p>
        </p:txBody>
      </p:sp>
      <p:sp>
        <p:nvSpPr>
          <p:cNvPr id="3" name="Content Placeholder 2"/>
          <p:cNvSpPr>
            <a:spLocks noGrp="1"/>
          </p:cNvSpPr>
          <p:nvPr>
            <p:ph sz="half" idx="1"/>
          </p:nvPr>
        </p:nvSpPr>
        <p:spPr/>
        <p:txBody>
          <a:bodyPr>
            <a:normAutofit fontScale="77500" lnSpcReduction="20000"/>
          </a:bodyPr>
          <a:lstStyle/>
          <a:p>
            <a:r>
              <a:rPr lang="en-US" b="1" dirty="0" smtClean="0"/>
              <a:t>Bar graph relationship of the damage type and the number of Accidents occurred.</a:t>
            </a:r>
          </a:p>
          <a:p>
            <a:r>
              <a:rPr lang="en-US" b="1" dirty="0"/>
              <a:t>SUB is most common → Many accidents cause serious but repairable </a:t>
            </a:r>
            <a:r>
              <a:rPr lang="en-US" b="1" dirty="0" smtClean="0"/>
              <a:t>damage</a:t>
            </a:r>
          </a:p>
          <a:p>
            <a:r>
              <a:rPr lang="en-US" b="1" dirty="0" smtClean="0"/>
              <a:t>W/O </a:t>
            </a:r>
            <a:r>
              <a:rPr lang="en-US" b="1" dirty="0"/>
              <a:t>is second highest → A large number of accidents lead to total aircraft </a:t>
            </a:r>
            <a:r>
              <a:rPr lang="en-US" b="1" dirty="0" smtClean="0"/>
              <a:t>loss</a:t>
            </a:r>
          </a:p>
          <a:p>
            <a:r>
              <a:rPr lang="en-US" b="1" dirty="0" smtClean="0"/>
              <a:t>MIN </a:t>
            </a:r>
            <a:r>
              <a:rPr lang="en-US" b="1" dirty="0"/>
              <a:t>+ NON are fewer → Fewer accidents end with light or no </a:t>
            </a:r>
            <a:r>
              <a:rPr lang="en-US" b="1" dirty="0" smtClean="0"/>
              <a:t>damage</a:t>
            </a:r>
          </a:p>
          <a:p>
            <a:r>
              <a:rPr lang="en-US" b="1" dirty="0" smtClean="0"/>
              <a:t>UNK </a:t>
            </a:r>
            <a:r>
              <a:rPr lang="en-US" b="1" dirty="0"/>
              <a:t>&amp; MIS are data quality gaps</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1725" y="2597315"/>
            <a:ext cx="4718050" cy="3236582"/>
          </a:xfrm>
        </p:spPr>
      </p:pic>
    </p:spTree>
    <p:extLst>
      <p:ext uri="{BB962C8B-B14F-4D97-AF65-F5344CB8AC3E}">
        <p14:creationId xmlns:p14="http://schemas.microsoft.com/office/powerpoint/2010/main" val="30366028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1427113"/>
          </a:xfrm>
        </p:spPr>
        <p:txBody>
          <a:bodyPr>
            <a:normAutofit fontScale="90000"/>
          </a:bodyPr>
          <a:lstStyle/>
          <a:p>
            <a:pPr marL="571500" indent="-571500">
              <a:buFont typeface="Wingdings" panose="05000000000000000000" pitchFamily="2" charset="2"/>
              <a:buChar char="Ø"/>
            </a:pPr>
            <a:r>
              <a:rPr lang="en-US" dirty="0" smtClean="0"/>
              <a:t>Heat map of Damage Type by (Top 15)</a:t>
            </a:r>
            <a:r>
              <a:rPr lang="en-US" dirty="0"/>
              <a:t/>
            </a:r>
            <a:br>
              <a:rPr lang="en-US" dirty="0"/>
            </a:br>
            <a:r>
              <a:rPr lang="en-US" dirty="0" smtClean="0"/>
              <a:t>Aircraft Type</a:t>
            </a:r>
            <a:endParaRPr lang="en-US" dirty="0"/>
          </a:p>
        </p:txBody>
      </p:sp>
      <p:sp>
        <p:nvSpPr>
          <p:cNvPr id="3" name="Content Placeholder 2"/>
          <p:cNvSpPr>
            <a:spLocks noGrp="1"/>
          </p:cNvSpPr>
          <p:nvPr>
            <p:ph sz="half" idx="1"/>
          </p:nvPr>
        </p:nvSpPr>
        <p:spPr>
          <a:xfrm>
            <a:off x="1298448" y="2560320"/>
            <a:ext cx="4718304" cy="3681454"/>
          </a:xfrm>
        </p:spPr>
        <p:txBody>
          <a:bodyPr>
            <a:normAutofit fontScale="77500" lnSpcReduction="20000"/>
          </a:bodyPr>
          <a:lstStyle/>
          <a:p>
            <a:r>
              <a:rPr lang="en-US" b="1" dirty="0"/>
              <a:t>The </a:t>
            </a:r>
            <a:r>
              <a:rPr lang="en-US" b="1" dirty="0" smtClean="0"/>
              <a:t>Heat map </a:t>
            </a:r>
            <a:r>
              <a:rPr lang="en-US" b="1" dirty="0"/>
              <a:t>demonstrates the severity of damages depending on aircrafts. The majority of aircraft record the highest number in Substantial damage (SUB) which implies that aircraft accidents usually cause severe damage which can be fixed but not destroyed. Write-off (W/O) cases are not very numerous, which means that total destruction is not very widespread in the given data. Some models, notably in the ATR 72 line, occur more within the higher damage categories, indicating that they have more operational incidents than the others.</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1725" y="2949497"/>
            <a:ext cx="4718050" cy="2532219"/>
          </a:xfrm>
        </p:spPr>
      </p:pic>
    </p:spTree>
    <p:extLst>
      <p:ext uri="{BB962C8B-B14F-4D97-AF65-F5344CB8AC3E}">
        <p14:creationId xmlns:p14="http://schemas.microsoft.com/office/powerpoint/2010/main" val="6323013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INSIGHTS OF THE ANALYSIS</a:t>
            </a:r>
            <a:endParaRPr lang="en-US" dirty="0"/>
          </a:p>
        </p:txBody>
      </p:sp>
      <p:sp>
        <p:nvSpPr>
          <p:cNvPr id="8" name="Content Placeholder 7"/>
          <p:cNvSpPr>
            <a:spLocks noGrp="1"/>
          </p:cNvSpPr>
          <p:nvPr>
            <p:ph sz="half" idx="1"/>
          </p:nvPr>
        </p:nvSpPr>
        <p:spPr/>
        <p:txBody>
          <a:bodyPr>
            <a:noAutofit/>
          </a:bodyPr>
          <a:lstStyle/>
          <a:p>
            <a:pPr>
              <a:buFont typeface="Wingdings" panose="05000000000000000000" pitchFamily="2" charset="2"/>
              <a:buChar char="Ø"/>
            </a:pPr>
            <a:r>
              <a:rPr lang="en-US" sz="1300" b="1" dirty="0"/>
              <a:t>Fatalities by Aircraft </a:t>
            </a:r>
            <a:r>
              <a:rPr lang="en-US" sz="1300" b="1" dirty="0" smtClean="0"/>
              <a:t>Type</a:t>
            </a:r>
            <a:endParaRPr lang="en-US" sz="1300" b="1" dirty="0"/>
          </a:p>
          <a:p>
            <a:r>
              <a:rPr lang="en-US" sz="1300" b="1" dirty="0"/>
              <a:t>The categorization of fatalities by aircraft type indicates a significant variation in the risk of aircrafts</a:t>
            </a:r>
            <a:r>
              <a:rPr lang="en-US" sz="1300" b="1" dirty="0" smtClean="0"/>
              <a:t>.</a:t>
            </a:r>
            <a:endParaRPr lang="en-US" sz="1300" b="1" dirty="0"/>
          </a:p>
          <a:p>
            <a:r>
              <a:rPr lang="en-US" sz="1300" b="1" dirty="0"/>
              <a:t>The Boeing 737 MAX 8 (346 deaths) and </a:t>
            </a:r>
            <a:r>
              <a:rPr lang="en-US" sz="1300" b="1" dirty="0" err="1"/>
              <a:t>Ilyushin</a:t>
            </a:r>
            <a:r>
              <a:rPr lang="en-US" sz="1300" b="1" dirty="0"/>
              <a:t> Il-76TD (258 deaths) aircrafts are the ones that have the highest number of fatalities thus being involved in more serious accidents</a:t>
            </a:r>
            <a:r>
              <a:rPr lang="en-US" sz="1300" b="1" dirty="0" smtClean="0"/>
              <a:t>.</a:t>
            </a:r>
            <a:endParaRPr lang="en-US" sz="1300" b="1" dirty="0"/>
          </a:p>
          <a:p>
            <a:r>
              <a:rPr lang="en-US" sz="1300" b="1" dirty="0"/>
              <a:t>Conversely, the aircrafts such as </a:t>
            </a:r>
            <a:r>
              <a:rPr lang="en-US" sz="1300" b="1" dirty="0" err="1"/>
              <a:t>Dassault</a:t>
            </a:r>
            <a:r>
              <a:rPr lang="en-US" sz="1300" b="1" dirty="0"/>
              <a:t> Falcon 2000EX, Dornier 228-101, and ATR 42-300 have zero fatalities and this means low risk profile</a:t>
            </a:r>
            <a:r>
              <a:rPr lang="en-US" sz="1300" b="1" dirty="0" smtClean="0"/>
              <a:t>.</a:t>
            </a:r>
            <a:endParaRPr lang="en-US" sz="1300" b="1" dirty="0"/>
          </a:p>
          <a:p>
            <a:r>
              <a:rPr lang="en-US" sz="1300" b="1" dirty="0"/>
              <a:t>Insight: To reduce the chances of passengers and crew fatalities, investors or operators should think of aircraft types that have low fatalities in the past. Planes that have a large number of fatalities could be characterized by greater risk of operation.</a:t>
            </a:r>
          </a:p>
        </p:txBody>
      </p:sp>
      <p:sp>
        <p:nvSpPr>
          <p:cNvPr id="9" name="Content Placeholder 8"/>
          <p:cNvSpPr>
            <a:spLocks noGrp="1"/>
          </p:cNvSpPr>
          <p:nvPr>
            <p:ph sz="half" idx="2"/>
          </p:nvPr>
        </p:nvSpPr>
        <p:spPr>
          <a:xfrm>
            <a:off x="6181344" y="2560320"/>
            <a:ext cx="4718304" cy="3681454"/>
          </a:xfrm>
        </p:spPr>
        <p:txBody>
          <a:bodyPr>
            <a:noAutofit/>
          </a:bodyPr>
          <a:lstStyle/>
          <a:p>
            <a:pPr>
              <a:buFont typeface="Wingdings" panose="05000000000000000000" pitchFamily="2" charset="2"/>
              <a:buChar char="Ø"/>
            </a:pPr>
            <a:r>
              <a:rPr lang="en-US" sz="1400" b="1" dirty="0"/>
              <a:t>Accident Frequency by </a:t>
            </a:r>
            <a:r>
              <a:rPr lang="en-US" sz="1400" b="1" dirty="0" smtClean="0"/>
              <a:t>Aircraft</a:t>
            </a:r>
            <a:endParaRPr lang="en-US" sz="1400" b="1" dirty="0"/>
          </a:p>
          <a:p>
            <a:r>
              <a:rPr lang="en-US" sz="1400" b="1" dirty="0"/>
              <a:t>There is a high frequency of accidents with certain types of aircraft, e.g., Cessna 208B Grand Caravan (57 accidents) and Beechcraft 200 Super King Air (29 accidents</a:t>
            </a:r>
            <a:r>
              <a:rPr lang="en-US" sz="1400" b="1" dirty="0" smtClean="0"/>
              <a:t>).</a:t>
            </a:r>
            <a:endParaRPr lang="en-US" sz="1400" b="1" dirty="0"/>
          </a:p>
          <a:p>
            <a:r>
              <a:rPr lang="en-US" sz="1400" b="1" dirty="0"/>
              <a:t>There are other aircraft (like Grumman G-1159 Gulfstream II and Boeing 757-223) which are represented by one flight in the dataset</a:t>
            </a:r>
            <a:r>
              <a:rPr lang="en-US" sz="1400" b="1" dirty="0" smtClean="0"/>
              <a:t>.</a:t>
            </a:r>
            <a:endParaRPr lang="en-US" sz="1400" b="1" dirty="0"/>
          </a:p>
          <a:p>
            <a:r>
              <a:rPr lang="en-US" sz="1400" b="1" dirty="0"/>
              <a:t>Knowledge: The frequency of accidents in different aircrafts is highly different. Planes that record more accidents might be more prone to the operational risk when compared to those with minimal accidents. To curb the number of accidents, companies ought to focus on aircrafts that have low incidences of accidents.</a:t>
            </a:r>
          </a:p>
        </p:txBody>
      </p:sp>
    </p:spTree>
    <p:extLst>
      <p:ext uri="{BB962C8B-B14F-4D97-AF65-F5344CB8AC3E}">
        <p14:creationId xmlns:p14="http://schemas.microsoft.com/office/powerpoint/2010/main" val="7330851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98452" y="791301"/>
            <a:ext cx="9601196" cy="1303867"/>
          </a:xfrm>
        </p:spPr>
        <p:txBody>
          <a:bodyPr/>
          <a:lstStyle/>
          <a:p>
            <a:endParaRPr lang="en-US" dirty="0"/>
          </a:p>
        </p:txBody>
      </p:sp>
      <p:sp>
        <p:nvSpPr>
          <p:cNvPr id="7" name="Content Placeholder 6"/>
          <p:cNvSpPr>
            <a:spLocks noGrp="1"/>
          </p:cNvSpPr>
          <p:nvPr>
            <p:ph sz="half" idx="1"/>
          </p:nvPr>
        </p:nvSpPr>
        <p:spPr/>
        <p:txBody>
          <a:bodyPr>
            <a:noAutofit/>
          </a:bodyPr>
          <a:lstStyle/>
          <a:p>
            <a:pPr>
              <a:buFont typeface="Wingdings" panose="05000000000000000000" pitchFamily="2" charset="2"/>
              <a:buChar char="Ø"/>
            </a:pPr>
            <a:r>
              <a:rPr lang="en-US" sz="1500" b="1" dirty="0" smtClean="0"/>
              <a:t>Distribution </a:t>
            </a:r>
            <a:r>
              <a:rPr lang="en-US" sz="1500" b="1" dirty="0"/>
              <a:t>of </a:t>
            </a:r>
            <a:r>
              <a:rPr lang="en-US" sz="1500" b="1" dirty="0" smtClean="0"/>
              <a:t>damage</a:t>
            </a:r>
            <a:endParaRPr lang="en-US" sz="1500" b="1" dirty="0"/>
          </a:p>
          <a:p>
            <a:r>
              <a:rPr lang="en-US" sz="1500" b="1" dirty="0"/>
              <a:t>In all accidents, the majority of them are in the substantial (sub) and written-off (w/o) category; minor damage or no damage is less common</a:t>
            </a:r>
            <a:r>
              <a:rPr lang="en-US" sz="1500" b="1" dirty="0" smtClean="0"/>
              <a:t>.</a:t>
            </a:r>
            <a:endParaRPr lang="en-US" sz="1500" b="1" dirty="0"/>
          </a:p>
          <a:p>
            <a:r>
              <a:rPr lang="en-US" sz="1500" b="1" dirty="0"/>
              <a:t>Counts: Substantial (663), Written-off (351), None (169), Minor (49</a:t>
            </a:r>
            <a:r>
              <a:rPr lang="en-US" sz="1500" b="1" dirty="0" smtClean="0"/>
              <a:t>).</a:t>
            </a:r>
            <a:endParaRPr lang="en-US" sz="1500" b="1" dirty="0"/>
          </a:p>
          <a:p>
            <a:r>
              <a:rPr lang="en-US" sz="1500" b="1" dirty="0"/>
              <a:t>Insight: Most accidents are associated with a lot of damage, which brings out the concern related to the costs of repair or complete loss. By concentrating on airplanes and the conditions under which the damages are less severe, the financial consequences and asset preservation will be minimized.</a:t>
            </a:r>
          </a:p>
        </p:txBody>
      </p:sp>
      <p:sp>
        <p:nvSpPr>
          <p:cNvPr id="8" name="Content Placeholder 7"/>
          <p:cNvSpPr>
            <a:spLocks noGrp="1"/>
          </p:cNvSpPr>
          <p:nvPr>
            <p:ph sz="half" idx="2"/>
          </p:nvPr>
        </p:nvSpPr>
        <p:spPr/>
        <p:txBody>
          <a:bodyPr>
            <a:normAutofit fontScale="55000" lnSpcReduction="20000"/>
          </a:bodyPr>
          <a:lstStyle/>
          <a:p>
            <a:pPr>
              <a:buFont typeface="Wingdings" panose="05000000000000000000" pitchFamily="2" charset="2"/>
              <a:buChar char="Ø"/>
            </a:pPr>
            <a:r>
              <a:rPr lang="en-US" b="1" dirty="0"/>
              <a:t>Damage Intensity by Aircraft </a:t>
            </a:r>
            <a:r>
              <a:rPr lang="en-US" b="1" dirty="0" smtClean="0"/>
              <a:t>Type</a:t>
            </a:r>
            <a:endParaRPr lang="en-US" b="1" dirty="0"/>
          </a:p>
          <a:p>
            <a:r>
              <a:rPr lang="en-US" b="1" dirty="0"/>
              <a:t>Some categories of aircraft, including the Cessna 208B Grand Caravan and </a:t>
            </a:r>
            <a:r>
              <a:rPr lang="en-US" b="1" dirty="0" err="1"/>
              <a:t>Antonov</a:t>
            </a:r>
            <a:r>
              <a:rPr lang="en-US" b="1" dirty="0"/>
              <a:t> An-2R, are overrepresented in the severe damages categories (substantial and written-off</a:t>
            </a:r>
            <a:r>
              <a:rPr lang="en-US" b="1" dirty="0" smtClean="0"/>
              <a:t>).</a:t>
            </a:r>
            <a:endParaRPr lang="en-US" b="1" dirty="0"/>
          </a:p>
          <a:p>
            <a:r>
              <a:rPr lang="en-US" b="1" dirty="0"/>
              <a:t>Other type of aircrafts have more incidents in minor or no damage groups, which are less risky</a:t>
            </a:r>
            <a:r>
              <a:rPr lang="en-US" b="1" dirty="0" smtClean="0"/>
              <a:t>.</a:t>
            </a:r>
            <a:endParaRPr lang="en-US" b="1" dirty="0"/>
          </a:p>
          <a:p>
            <a:r>
              <a:rPr lang="en-US" b="1" dirty="0"/>
              <a:t>The appearance of </a:t>
            </a:r>
            <a:r>
              <a:rPr lang="en-US" b="1" dirty="0" err="1"/>
              <a:t>heatmaps</a:t>
            </a:r>
            <a:r>
              <a:rPr lang="en-US" b="1" dirty="0"/>
              <a:t> or stacked bar charts shows that there is a certain tendency to such aircraft: certain types are always followed by an increased amount of damage, and others are less dangerous</a:t>
            </a:r>
            <a:r>
              <a:rPr lang="en-US" b="1" dirty="0" smtClean="0"/>
              <a:t>.</a:t>
            </a:r>
            <a:endParaRPr lang="en-US" b="1" dirty="0"/>
          </a:p>
          <a:p>
            <a:r>
              <a:rPr lang="en-US" b="1" dirty="0"/>
              <a:t>Intuition: Aircrafts that have lower severity of damage in history should first be invested or operated because they are the aircrafts that would have lesser cost of repair and asset loss. In contrast, the types that are often engaged in the serious destruction should be closely observed or avoided to minimize the financial and operation risks.</a:t>
            </a:r>
          </a:p>
          <a:p>
            <a:endParaRPr lang="en-US" b="1" dirty="0"/>
          </a:p>
        </p:txBody>
      </p:sp>
    </p:spTree>
    <p:extLst>
      <p:ext uri="{BB962C8B-B14F-4D97-AF65-F5344CB8AC3E}">
        <p14:creationId xmlns:p14="http://schemas.microsoft.com/office/powerpoint/2010/main" val="27764043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RECOMMENDATION</a:t>
            </a:r>
            <a:endParaRPr lang="en-US" dirty="0"/>
          </a:p>
        </p:txBody>
      </p:sp>
      <p:sp>
        <p:nvSpPr>
          <p:cNvPr id="6" name="Content Placeholder 5"/>
          <p:cNvSpPr>
            <a:spLocks noGrp="1"/>
          </p:cNvSpPr>
          <p:nvPr>
            <p:ph idx="1"/>
          </p:nvPr>
        </p:nvSpPr>
        <p:spPr/>
        <p:txBody>
          <a:bodyPr>
            <a:normAutofit fontScale="62500" lnSpcReduction="20000"/>
          </a:bodyPr>
          <a:lstStyle/>
          <a:p>
            <a:r>
              <a:rPr lang="en-US" b="1" dirty="0"/>
              <a:t>There is no equal distribution of fatalities, accidents, and the severity of damages in the aircraft types</a:t>
            </a:r>
            <a:r>
              <a:rPr lang="en-US" b="1" dirty="0" smtClean="0"/>
              <a:t>.</a:t>
            </a:r>
            <a:endParaRPr lang="en-US" b="1" dirty="0"/>
          </a:p>
          <a:p>
            <a:r>
              <a:rPr lang="en-US" b="1" dirty="0"/>
              <a:t>High risk planes: Boeing 737 MAX 8, </a:t>
            </a:r>
            <a:r>
              <a:rPr lang="en-US" b="1" dirty="0" err="1"/>
              <a:t>Ilyushin</a:t>
            </a:r>
            <a:r>
              <a:rPr lang="en-US" b="1" dirty="0"/>
              <a:t> Il-76TD, </a:t>
            </a:r>
            <a:r>
              <a:rPr lang="en-US" b="1" dirty="0" err="1"/>
              <a:t>Antonov</a:t>
            </a:r>
            <a:r>
              <a:rPr lang="en-US" b="1" dirty="0"/>
              <a:t> An-2R, Cessna 208B Grand Caravan - these are the models with high death tolls, accidents or extreme damage</a:t>
            </a:r>
            <a:r>
              <a:rPr lang="en-US" b="1" dirty="0" smtClean="0"/>
              <a:t>.</a:t>
            </a:r>
            <a:endParaRPr lang="en-US" b="1" dirty="0"/>
          </a:p>
          <a:p>
            <a:r>
              <a:rPr lang="en-US" b="1" dirty="0"/>
              <a:t>Less dangerous aircraft: </a:t>
            </a:r>
            <a:r>
              <a:rPr lang="en-US" b="1" dirty="0" err="1"/>
              <a:t>Dassault</a:t>
            </a:r>
            <a:r>
              <a:rPr lang="en-US" b="1" dirty="0"/>
              <a:t> Falcon series, Dornier 228 series, ATR 42-300 of the type indicate zero or less fatalities and low accident rate with minimal damage</a:t>
            </a:r>
            <a:r>
              <a:rPr lang="en-US" b="1" dirty="0" smtClean="0"/>
              <a:t>.</a:t>
            </a:r>
            <a:endParaRPr lang="en-US" b="1" dirty="0"/>
          </a:p>
          <a:p>
            <a:r>
              <a:rPr lang="en-US" b="1" dirty="0"/>
              <a:t>Strategic Advice: The companies and investors are advised to lay emphasis on aircraft with fewer fatalities, fewer incidences of accidents, and less damage intensity to minimize operational, financial, and safety hazards</a:t>
            </a:r>
            <a:r>
              <a:rPr lang="en-US" b="1" dirty="0" smtClean="0"/>
              <a:t>.</a:t>
            </a:r>
            <a:endParaRPr lang="en-US" b="1" dirty="0"/>
          </a:p>
          <a:p>
            <a:r>
              <a:rPr lang="en-US" b="1" dirty="0"/>
              <a:t>  </a:t>
            </a:r>
            <a:r>
              <a:rPr lang="en-US" b="1" dirty="0" smtClean="0"/>
              <a:t>Summary</a:t>
            </a:r>
            <a:endParaRPr lang="en-US" b="1" dirty="0"/>
          </a:p>
          <a:p>
            <a:r>
              <a:rPr lang="en-US" b="1" dirty="0"/>
              <a:t>Through death data, accident rates, and the severity of damage, the data set can help understand which aircraft models are riskier and which are less risky, leading to informed decisions based on data about which aircraft to choose and how to operate more safely.</a:t>
            </a:r>
          </a:p>
        </p:txBody>
      </p:sp>
    </p:spTree>
    <p:extLst>
      <p:ext uri="{BB962C8B-B14F-4D97-AF65-F5344CB8AC3E}">
        <p14:creationId xmlns:p14="http://schemas.microsoft.com/office/powerpoint/2010/main" val="285683054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1451</TotalTime>
  <Words>1359</Words>
  <Application>Microsoft Office PowerPoint</Application>
  <PresentationFormat>Widescreen</PresentationFormat>
  <Paragraphs>72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Garamond</vt:lpstr>
      <vt:lpstr>Wingdings</vt:lpstr>
      <vt:lpstr>Organic</vt:lpstr>
      <vt:lpstr>           TITLE : AVIATION RISK ANALYSIS</vt:lpstr>
      <vt:lpstr>BUSINESS UNDERSTANDING ANALYSIS</vt:lpstr>
      <vt:lpstr>DATA PREPARATION ANALYSIS</vt:lpstr>
      <vt:lpstr>VISUALIZATION ANALYSIS </vt:lpstr>
      <vt:lpstr>Pie chart of Aircraft type with Fatalities rate </vt:lpstr>
      <vt:lpstr>Heat map of (top 10) Aircraft type with Accident frequency</vt:lpstr>
      <vt:lpstr>Line graph of (bottom 10) Aircraft type with Accident frequency</vt:lpstr>
      <vt:lpstr>Bar graph of Damage severity Distribution</vt:lpstr>
      <vt:lpstr>Heat map of Damage Type by (Top 15) Aircraft Type</vt:lpstr>
      <vt:lpstr>INSIGHTS OF THE ANALYSIS</vt:lpstr>
      <vt:lpstr>PowerPoint Presentation</vt:lpstr>
      <vt:lpstr>RECOMMENDATION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 AVIATION RISK ANALYSIS</dc:title>
  <dc:creator>user</dc:creator>
  <cp:lastModifiedBy>user</cp:lastModifiedBy>
  <cp:revision>31</cp:revision>
  <dcterms:created xsi:type="dcterms:W3CDTF">2026-02-01T20:20:35Z</dcterms:created>
  <dcterms:modified xsi:type="dcterms:W3CDTF">2026-02-02T20:36:23Z</dcterms:modified>
</cp:coreProperties>
</file>